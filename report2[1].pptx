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77" r:id="rId1"/>
  </p:sldMasterIdLst>
  <p:notesMasterIdLst>
    <p:notesMasterId r:id="rId22"/>
  </p:notesMasterIdLst>
  <p:sldIdLst>
    <p:sldId id="300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7" r:id="rId17"/>
    <p:sldId id="295" r:id="rId18"/>
    <p:sldId id="296" r:id="rId19"/>
    <p:sldId id="298" r:id="rId20"/>
    <p:sldId id="299" r:id="rId21"/>
  </p:sldIdLst>
  <p:sldSz cx="14630400" cy="8229600"/>
  <p:notesSz cx="8229600" cy="14630400"/>
  <p:embeddedFontLst>
    <p:embeddedFont>
      <p:font typeface="Century Gothic" panose="020B0502020202020204" pitchFamily="34" charset="0"/>
      <p:regular r:id="rId23"/>
      <p:bold r:id="rId24"/>
      <p:italic r:id="rId25"/>
      <p:boldItalic r:id="rId26"/>
    </p:embeddedFont>
    <p:embeddedFont>
      <p:font typeface="PT Sans" panose="020B0503020203020204" pitchFamily="34" charset="0"/>
      <p:regular r:id="rId27"/>
      <p:bold r:id="rId28"/>
      <p:italic r:id="rId29"/>
      <p:boldItalic r:id="rId30"/>
    </p:embeddedFont>
    <p:embeddedFont>
      <p:font typeface="Wingdings 3" panose="05040102010807070707" pitchFamily="18" charset="2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itti17" initials="c" lastIdx="1" clrIdx="0">
    <p:extLst>
      <p:ext uri="{19B8F6BF-5375-455C-9EA6-DF929625EA0E}">
        <p15:presenceInfo xmlns:p15="http://schemas.microsoft.com/office/powerpoint/2012/main" userId="chitti17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B9162E-5434-4775-8F7A-89BED5A55876}" v="2" dt="2025-12-01T08:43:14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chana S A" userId="4e104cad65b73d39" providerId="LiveId" clId="{8041F97D-447B-465D-88D3-DBEDB00C09D7}"/>
    <pc:docChg chg="modSld">
      <pc:chgData name="Kanchana S A" userId="4e104cad65b73d39" providerId="LiveId" clId="{8041F97D-447B-465D-88D3-DBEDB00C09D7}" dt="2026-01-14T09:22:39.995" v="6" actId="114"/>
      <pc:docMkLst>
        <pc:docMk/>
      </pc:docMkLst>
      <pc:sldChg chg="modSp mod">
        <pc:chgData name="Kanchana S A" userId="4e104cad65b73d39" providerId="LiveId" clId="{8041F97D-447B-465D-88D3-DBEDB00C09D7}" dt="2026-01-14T09:22:39.995" v="6" actId="114"/>
        <pc:sldMkLst>
          <pc:docMk/>
          <pc:sldMk cId="19665753" sldId="300"/>
        </pc:sldMkLst>
        <pc:spChg chg="mod">
          <ac:chgData name="Kanchana S A" userId="4e104cad65b73d39" providerId="LiveId" clId="{8041F97D-447B-465D-88D3-DBEDB00C09D7}" dt="2026-01-14T09:22:39.995" v="6" actId="114"/>
          <ac:spMkLst>
            <pc:docMk/>
            <pc:sldMk cId="19665753" sldId="300"/>
            <ac:spMk id="5" creationId="{CE1FA601-3C18-709A-EC02-85F8E75C7EC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324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2519679"/>
            <a:ext cx="10590790" cy="3213178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2190781" y="2150669"/>
            <a:ext cx="1188719" cy="3657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10742372" y="3873399"/>
            <a:ext cx="4631754" cy="36576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423049" y="354876"/>
            <a:ext cx="1005839" cy="92122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86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945" y="3124200"/>
            <a:ext cx="10590791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34572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213174"/>
            <a:ext cx="5221230" cy="2740589"/>
          </a:xfrm>
        </p:spPr>
        <p:txBody>
          <a:bodyPr anchor="ctr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671" y="3213173"/>
            <a:ext cx="4509054" cy="2740589"/>
          </a:xfrm>
        </p:spPr>
        <p:txBody>
          <a:bodyPr anchor="ctr"/>
          <a:lstStyle>
            <a:lvl1pPr marL="0" indent="0" algn="l">
              <a:buNone/>
              <a:defRPr sz="24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0991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5945" y="3124201"/>
            <a:ext cx="5790190" cy="409956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50455" y="3124200"/>
            <a:ext cx="5790191" cy="40995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3007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3124200"/>
            <a:ext cx="579018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945" y="3815715"/>
            <a:ext cx="5790190" cy="3408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50455" y="3124200"/>
            <a:ext cx="579019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50455" y="3815715"/>
            <a:ext cx="5790191" cy="3408047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4901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13696" cy="84835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2533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2738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1554480"/>
            <a:ext cx="3351790" cy="192024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7375" y="1737360"/>
            <a:ext cx="6228079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3755137"/>
            <a:ext cx="3351790" cy="3474719"/>
          </a:xfrm>
        </p:spPr>
        <p:txBody>
          <a:bodyPr/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9863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6" y="2032000"/>
            <a:ext cx="4638161" cy="208280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57444" y="1371600"/>
            <a:ext cx="3872632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385945" y="4389120"/>
            <a:ext cx="4631054" cy="1645920"/>
          </a:xfrm>
        </p:spPr>
        <p:txBody>
          <a:bodyPr>
            <a:normAutofit/>
          </a:bodyPr>
          <a:lstStyle>
            <a:lvl1pPr marL="0" indent="0">
              <a:buNone/>
              <a:defRPr sz="168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8991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5963912"/>
            <a:ext cx="10590791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5" y="822960"/>
            <a:ext cx="10590791" cy="4114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6643998"/>
            <a:ext cx="10590790" cy="592454"/>
          </a:xfrm>
        </p:spPr>
        <p:txBody>
          <a:bodyPr>
            <a:normAutofit/>
          </a:bodyPr>
          <a:lstStyle>
            <a:lvl1pPr marL="0" indent="0">
              <a:buNone/>
              <a:defRPr sz="144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1904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8558" y="1276101"/>
            <a:ext cx="10598179" cy="1647583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251960"/>
            <a:ext cx="10590791" cy="297180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2242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1057879" y="728803"/>
            <a:ext cx="962294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11861350" y="3136545"/>
            <a:ext cx="783316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52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8254" y="1178561"/>
            <a:ext cx="10144687" cy="3235958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2335135" y="4414519"/>
            <a:ext cx="9277463" cy="41060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6" y="6035040"/>
            <a:ext cx="11093876" cy="1197428"/>
          </a:xfrm>
        </p:spPr>
        <p:txBody>
          <a:bodyPr anchor="ctr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1643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2844800"/>
            <a:ext cx="10590792" cy="218701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6029960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85565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3"/>
            <a:ext cx="377025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85944" y="3815717"/>
            <a:ext cx="3770255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266" y="3124200"/>
            <a:ext cx="377641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415266" y="3815716"/>
            <a:ext cx="3776411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465762" y="3124201"/>
            <a:ext cx="377487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9465995" y="3815715"/>
            <a:ext cx="3774643" cy="341675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284765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9326881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11933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439413"/>
            <a:ext cx="366052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601464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85945" y="6130927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2638" y="5439413"/>
            <a:ext cx="3660526" cy="691516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698155" y="3124200"/>
            <a:ext cx="3229492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484206" y="6130926"/>
            <a:ext cx="3660526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579331" y="5439414"/>
            <a:ext cx="3661314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795637" y="3124200"/>
            <a:ext cx="3229490" cy="190981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9579330" y="6130925"/>
            <a:ext cx="3661315" cy="1101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5286997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9357362" y="3083560"/>
            <a:ext cx="0" cy="41909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73333" y="7670206"/>
            <a:ext cx="4373138" cy="365761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46433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168402"/>
            <a:ext cx="10590791" cy="8483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3124200"/>
            <a:ext cx="10590791" cy="409956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834527" y="7670206"/>
            <a:ext cx="1188719" cy="36575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79088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2283" y="1534160"/>
            <a:ext cx="1691958" cy="5698308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5945" y="1534160"/>
            <a:ext cx="7507230" cy="56983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783725" y="7670206"/>
            <a:ext cx="1190562" cy="36575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71842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19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4630400" cy="82296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385945" y="1168402"/>
            <a:ext cx="10513696" cy="8483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3124200"/>
            <a:ext cx="10513696" cy="4099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83725" y="7670206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3333" y="7670206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accent1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586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80" r:id="rId3"/>
    <p:sldLayoutId id="2147483881" r:id="rId4"/>
    <p:sldLayoutId id="2147483882" r:id="rId5"/>
    <p:sldLayoutId id="2147483883" r:id="rId6"/>
    <p:sldLayoutId id="2147483884" r:id="rId7"/>
    <p:sldLayoutId id="2147483885" r:id="rId8"/>
    <p:sldLayoutId id="2147483886" r:id="rId9"/>
    <p:sldLayoutId id="2147483887" r:id="rId10"/>
    <p:sldLayoutId id="2147483888" r:id="rId11"/>
    <p:sldLayoutId id="2147483889" r:id="rId12"/>
    <p:sldLayoutId id="2147483890" r:id="rId13"/>
    <p:sldLayoutId id="2147483891" r:id="rId14"/>
    <p:sldLayoutId id="2147483892" r:id="rId15"/>
    <p:sldLayoutId id="2147483893" r:id="rId16"/>
    <p:sldLayoutId id="2147483894" r:id="rId17"/>
    <p:sldLayoutId id="2147483895" r:id="rId18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980711F2-B335-F12B-7836-0479EB17A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60" y="209749"/>
            <a:ext cx="1789621" cy="112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7D467618-41EA-06E3-890D-AB261EE290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6244" y="174025"/>
            <a:ext cx="1333500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1FA601-3C18-709A-EC02-85F8E75C7ECF}"/>
              </a:ext>
            </a:extLst>
          </p:cNvPr>
          <p:cNvSpPr txBox="1"/>
          <p:nvPr/>
        </p:nvSpPr>
        <p:spPr>
          <a:xfrm>
            <a:off x="79167" y="209749"/>
            <a:ext cx="12444266" cy="735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                     VISVESVARAYA TECHNOLOGICAL UNIVERSITY BELAGAVI</a:t>
            </a:r>
          </a:p>
          <a:p>
            <a:endParaRPr lang="en-IN" sz="2400" dirty="0"/>
          </a:p>
          <a:p>
            <a:r>
              <a:rPr lang="en-IN" dirty="0"/>
              <a:t>                                                                                MINI PROJECT PRESENTATION</a:t>
            </a:r>
          </a:p>
          <a:p>
            <a:r>
              <a:rPr lang="en-IN" dirty="0"/>
              <a:t>                                                                                                       ON </a:t>
            </a:r>
          </a:p>
          <a:p>
            <a:r>
              <a:rPr lang="en-IN" dirty="0"/>
              <a:t>                                                                    </a:t>
            </a:r>
            <a:r>
              <a:rPr lang="en-IN" b="1" dirty="0"/>
              <a:t>“EduNexa: Next Generation Education System BOT"</a:t>
            </a:r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            </a:t>
            </a:r>
            <a:r>
              <a:rPr lang="en-IN" b="1" dirty="0"/>
              <a:t>Presented by:</a:t>
            </a:r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    Anusha                 3PG23CS025</a:t>
            </a:r>
          </a:p>
          <a:p>
            <a:r>
              <a:rPr lang="en-IN" dirty="0"/>
              <a:t>                                                                                    Kanchana              3PG23CS043</a:t>
            </a:r>
          </a:p>
          <a:p>
            <a:r>
              <a:rPr lang="en-IN" dirty="0"/>
              <a:t>                                                                                    Manasa                 3PG23CS051</a:t>
            </a:r>
          </a:p>
          <a:p>
            <a:r>
              <a:rPr lang="en-IN" dirty="0"/>
              <a:t>                                                                                    Megha                   3PG23CS052</a:t>
            </a:r>
          </a:p>
          <a:p>
            <a:endParaRPr lang="en-IN" i="1" dirty="0"/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       Under the Guidance of </a:t>
            </a:r>
          </a:p>
          <a:p>
            <a:r>
              <a:rPr lang="en-IN" dirty="0"/>
              <a:t>                                                                                             Prof. Archana S</a:t>
            </a:r>
          </a:p>
          <a:p>
            <a:endParaRPr lang="en-IN" dirty="0"/>
          </a:p>
          <a:p>
            <a:r>
              <a:rPr lang="en-IN" dirty="0"/>
              <a:t>                                                        DEPARTMENT OF COMPUTER SCIENCE AND ENGINEERING</a:t>
            </a:r>
          </a:p>
          <a:p>
            <a:endParaRPr lang="en-IN" dirty="0"/>
          </a:p>
          <a:p>
            <a:r>
              <a:rPr lang="en-IN" dirty="0"/>
              <a:t>                                                                                            Ballari VV Sangha</a:t>
            </a:r>
          </a:p>
          <a:p>
            <a:endParaRPr lang="en-IN" dirty="0"/>
          </a:p>
          <a:p>
            <a:r>
              <a:rPr lang="en-IN" dirty="0"/>
              <a:t>                                                       </a:t>
            </a:r>
            <a:r>
              <a:rPr lang="en-IN" sz="2400" b="1" dirty="0"/>
              <a:t>PROUDHADEVARAYA INSTITUTE OF TECHNOLOGY </a:t>
            </a:r>
          </a:p>
          <a:p>
            <a:r>
              <a:rPr lang="en-IN" dirty="0"/>
              <a:t>                                                                         </a:t>
            </a:r>
            <a:r>
              <a:rPr lang="en-IN" b="1" dirty="0"/>
              <a:t>T.B DAM ROAD.HOSAΡΕΤΕ-583225</a:t>
            </a:r>
          </a:p>
          <a:p>
            <a:endParaRPr lang="en-IN" dirty="0"/>
          </a:p>
          <a:p>
            <a:r>
              <a:rPr lang="en-IN" dirty="0"/>
              <a:t>                                              (Affiliated to VTU, Belagavi, Karnataka &amp; Recognized by AICTE, New Delhi)</a:t>
            </a:r>
          </a:p>
        </p:txBody>
      </p:sp>
    </p:spTree>
    <p:extLst>
      <p:ext uri="{BB962C8B-B14F-4D97-AF65-F5344CB8AC3E}">
        <p14:creationId xmlns:p14="http://schemas.microsoft.com/office/powerpoint/2010/main" val="19665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32D017-7306-772C-4E2E-59C1214EEE0F}"/>
              </a:ext>
            </a:extLst>
          </p:cNvPr>
          <p:cNvSpPr txBox="1"/>
          <p:nvPr/>
        </p:nvSpPr>
        <p:spPr>
          <a:xfrm>
            <a:off x="905069" y="894076"/>
            <a:ext cx="10543592" cy="7638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36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Contents: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3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1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Introduction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Literature survey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Objectives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Software requirements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Existing system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Proposed system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Results/Snapshots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 Applications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 </a:t>
            </a:r>
            <a:r>
              <a:rPr lang="en-IN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 </a:t>
            </a:r>
            <a:r>
              <a:rPr lang="en-IN" sz="2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scope </a:t>
            </a:r>
            <a:endParaRPr lang="en-IN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11. Bibliography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290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F337A4-D033-85E0-FC4A-BE90F1456654}"/>
              </a:ext>
            </a:extLst>
          </p:cNvPr>
          <p:cNvSpPr/>
          <p:nvPr/>
        </p:nvSpPr>
        <p:spPr>
          <a:xfrm>
            <a:off x="1028700" y="894672"/>
            <a:ext cx="11572874" cy="453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Introduction: A Smarter Campus Experience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A484D8C-532A-367C-09FA-409388AB8CAF}"/>
              </a:ext>
            </a:extLst>
          </p:cNvPr>
          <p:cNvSpPr/>
          <p:nvPr/>
        </p:nvSpPr>
        <p:spPr>
          <a:xfrm>
            <a:off x="-167950" y="1474748"/>
            <a:ext cx="11069312" cy="4429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087410-75A2-73FA-4C96-063DC29E5A88}"/>
              </a:ext>
            </a:extLst>
          </p:cNvPr>
          <p:cNvSpPr txBox="1"/>
          <p:nvPr/>
        </p:nvSpPr>
        <p:spPr>
          <a:xfrm>
            <a:off x="1778211" y="3024094"/>
            <a:ext cx="935831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A chatbot is an AI-based program capable of interacting with users through text.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E6574-37D7-6A3D-6C16-471781F279E4}"/>
              </a:ext>
            </a:extLst>
          </p:cNvPr>
          <p:cNvSpPr txBox="1"/>
          <p:nvPr/>
        </p:nvSpPr>
        <p:spPr>
          <a:xfrm>
            <a:off x="1718947" y="4334032"/>
            <a:ext cx="93583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Our project aims to create a smart, fast, and user-friendly chatbot for our college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76F48C-9645-5C3E-7937-874836873A38}"/>
              </a:ext>
            </a:extLst>
          </p:cNvPr>
          <p:cNvSpPr txBox="1"/>
          <p:nvPr/>
        </p:nvSpPr>
        <p:spPr>
          <a:xfrm>
            <a:off x="1718947" y="5430416"/>
            <a:ext cx="729614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It helps students get instant answers for academic and campus-related queries.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92462-A37A-E22E-5151-471522411770}"/>
              </a:ext>
            </a:extLst>
          </p:cNvPr>
          <p:cNvSpPr txBox="1"/>
          <p:nvPr/>
        </p:nvSpPr>
        <p:spPr>
          <a:xfrm>
            <a:off x="1778211" y="6550097"/>
            <a:ext cx="740092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The system includes an Admin Dashboard to manage and update Q&amp;A.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811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221D46-486A-1C5D-4A43-3AA27B493EF7}"/>
              </a:ext>
            </a:extLst>
          </p:cNvPr>
          <p:cNvSpPr txBox="1"/>
          <p:nvPr/>
        </p:nvSpPr>
        <p:spPr>
          <a:xfrm>
            <a:off x="1057275" y="819489"/>
            <a:ext cx="7315200" cy="72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Literature Survey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4BDE4-7E64-2120-3CC9-EE7D48742D3D}"/>
              </a:ext>
            </a:extLst>
          </p:cNvPr>
          <p:cNvSpPr txBox="1"/>
          <p:nvPr/>
        </p:nvSpPr>
        <p:spPr>
          <a:xfrm>
            <a:off x="735369" y="3398149"/>
            <a:ext cx="13092598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3000"/>
              </a:lnSpc>
              <a:buAutoNum type="arabicPlain"/>
            </a:pPr>
            <a:r>
              <a:rPr lang="en-US" sz="2800" dirty="0"/>
              <a:t>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Mehta, L.	     2023	      Conversational AI for next-gen learning platforms	 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</a:t>
            </a:r>
          </a:p>
          <a:p>
            <a:pPr marL="342900" indent="-342900">
              <a:lnSpc>
                <a:spcPts val="3000"/>
              </a:lnSpc>
              <a:buAutoNum type="arabicPlain" startAt="2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Das, P.	           2022	      Natural language processing in educational chatbots </a:t>
            </a:r>
          </a:p>
          <a:p>
            <a:pPr marL="342900" indent="-342900">
              <a:lnSpc>
                <a:spcPts val="3000"/>
              </a:lnSpc>
              <a:buAutoNum type="arabicPlain" startAt="2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Nair, R.          2021	      Machine-learning based chatbots for academic institutions</a:t>
            </a:r>
          </a:p>
          <a:p>
            <a:pPr marL="342900" indent="-342900">
              <a:lnSpc>
                <a:spcPts val="3000"/>
              </a:lnSpc>
              <a:buAutoNum type="arabicPlain" startAt="2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Verma, S        2020	      Intelligent virtual assistants for student support </a:t>
            </a:r>
          </a:p>
          <a:p>
            <a:pPr marL="342900" indent="-342900">
              <a:lnSpc>
                <a:spcPts val="3000"/>
              </a:lnSpc>
              <a:buAutoNum type="arabicPlain" startAt="2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Iyer, K.	     2020	      Automated student query resolution systems       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   Kumar, A.	     2019	      AI-driven chatbot systems for modern education                     </a:t>
            </a:r>
          </a:p>
          <a:p>
            <a:pPr>
              <a:lnSpc>
                <a:spcPts val="3000"/>
              </a:lnSpc>
            </a:pPr>
            <a:r>
              <a:rPr lang="en-US" sz="2800" dirty="0"/>
              <a:t>	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47864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4CA34F-2E5F-32BC-CFFC-E75DED5B3764}"/>
              </a:ext>
            </a:extLst>
          </p:cNvPr>
          <p:cNvSpPr txBox="1"/>
          <p:nvPr/>
        </p:nvSpPr>
        <p:spPr>
          <a:xfrm>
            <a:off x="587830" y="3698410"/>
            <a:ext cx="7315200" cy="846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Modern chatbots use NLP, machine learning, or manual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E9DB7-16D7-9EEB-4C28-46CDD7A642A7}"/>
              </a:ext>
            </a:extLst>
          </p:cNvPr>
          <p:cNvSpPr txBox="1"/>
          <p:nvPr/>
        </p:nvSpPr>
        <p:spPr>
          <a:xfrm>
            <a:off x="587830" y="4768044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Database Q&amp;A-based chatbots are simple, fast, and easy to maintain for college systems.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26907D-BD1C-9181-AE3A-17840A7773E2}"/>
              </a:ext>
            </a:extLst>
          </p:cNvPr>
          <p:cNvSpPr txBox="1"/>
          <p:nvPr/>
        </p:nvSpPr>
        <p:spPr>
          <a:xfrm>
            <a:off x="587830" y="5889500"/>
            <a:ext cx="7315200" cy="846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Several studies show students prefer quick automated answers over waiting for staff.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7ACEE3-C4F2-41C1-ACF3-D7D56B0A7772}"/>
              </a:ext>
            </a:extLst>
          </p:cNvPr>
          <p:cNvSpPr txBox="1"/>
          <p:nvPr/>
        </p:nvSpPr>
        <p:spPr>
          <a:xfrm>
            <a:off x="-1231641" y="6891987"/>
            <a:ext cx="8910734" cy="8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71700" lvl="4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Our chatbot adopts a simple but effective Q&amp;A-based approach for accurate replies</a:t>
            </a:r>
            <a:r>
              <a:rPr lang="en-US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67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2508B5-CF1A-552E-8670-A857CED101A7}"/>
              </a:ext>
            </a:extLst>
          </p:cNvPr>
          <p:cNvSpPr txBox="1"/>
          <p:nvPr/>
        </p:nvSpPr>
        <p:spPr>
          <a:xfrm>
            <a:off x="1101012" y="1010944"/>
            <a:ext cx="6969968" cy="72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Objectives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 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AA8B5-AEB6-19A5-C130-2D71486E94A8}"/>
              </a:ext>
            </a:extLst>
          </p:cNvPr>
          <p:cNvSpPr txBox="1"/>
          <p:nvPr/>
        </p:nvSpPr>
        <p:spPr>
          <a:xfrm>
            <a:off x="755779" y="2831166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To develop a chatbot that answers student queries instantly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33F74-BF7A-101E-B714-C067548E2DB5}"/>
              </a:ext>
            </a:extLst>
          </p:cNvPr>
          <p:cNvSpPr txBox="1"/>
          <p:nvPr/>
        </p:nvSpPr>
        <p:spPr>
          <a:xfrm>
            <a:off x="755779" y="4066915"/>
            <a:ext cx="7147249" cy="8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To reduce manual workload for faculty and administrative staff</a:t>
            </a:r>
            <a:r>
              <a:rPr lang="en-US" sz="1800" dirty="0"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B76CE-2325-CC4F-2760-937AC55B78F5}"/>
              </a:ext>
            </a:extLst>
          </p:cNvPr>
          <p:cNvSpPr txBox="1"/>
          <p:nvPr/>
        </p:nvSpPr>
        <p:spPr>
          <a:xfrm>
            <a:off x="839754" y="5382115"/>
            <a:ext cx="7147249" cy="846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To provide a simple admin interface for updating Q&amp;A</a:t>
            </a:r>
            <a:r>
              <a:rPr lang="en-US" sz="2400" dirty="0"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33AAE8-A3A6-BBDB-8441-DC22F725C15A}"/>
              </a:ext>
            </a:extLst>
          </p:cNvPr>
          <p:cNvSpPr txBox="1"/>
          <p:nvPr/>
        </p:nvSpPr>
        <p:spPr>
          <a:xfrm>
            <a:off x="839754" y="6731535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To enhance communication between students and the institution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222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364699-2E25-6B61-C2B0-4E5088407010}"/>
              </a:ext>
            </a:extLst>
          </p:cNvPr>
          <p:cNvSpPr txBox="1"/>
          <p:nvPr/>
        </p:nvSpPr>
        <p:spPr>
          <a:xfrm>
            <a:off x="1026367" y="885675"/>
            <a:ext cx="11187403" cy="72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Software Requirements /Hardware Requirements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3426E-13EC-5EAB-8595-8543CFD02CC0}"/>
              </a:ext>
            </a:extLst>
          </p:cNvPr>
          <p:cNvSpPr txBox="1"/>
          <p:nvPr/>
        </p:nvSpPr>
        <p:spPr>
          <a:xfrm>
            <a:off x="933061" y="3118146"/>
            <a:ext cx="7315200" cy="461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Frontend: HTML, CSS, JavaScript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508DC-AD13-5339-5A2F-97CE23A2B33B}"/>
              </a:ext>
            </a:extLst>
          </p:cNvPr>
          <p:cNvSpPr txBox="1"/>
          <p:nvPr/>
        </p:nvSpPr>
        <p:spPr>
          <a:xfrm>
            <a:off x="933061" y="3800428"/>
            <a:ext cx="7315200" cy="461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Backend: Python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47D77-C5EC-B549-1ACE-C951413798D9}"/>
              </a:ext>
            </a:extLst>
          </p:cNvPr>
          <p:cNvSpPr txBox="1"/>
          <p:nvPr/>
        </p:nvSpPr>
        <p:spPr>
          <a:xfrm>
            <a:off x="933061" y="4585505"/>
            <a:ext cx="7315200" cy="461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Frameworks: Flask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87388B-5047-A25A-17A8-518A819ACDF3}"/>
              </a:ext>
            </a:extLst>
          </p:cNvPr>
          <p:cNvSpPr txBox="1"/>
          <p:nvPr/>
        </p:nvSpPr>
        <p:spPr>
          <a:xfrm>
            <a:off x="933061" y="5337808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Database: MySQL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553C2B-00E8-B003-2186-ED2ABD96E8A2}"/>
              </a:ext>
            </a:extLst>
          </p:cNvPr>
          <p:cNvSpPr txBox="1"/>
          <p:nvPr/>
        </p:nvSpPr>
        <p:spPr>
          <a:xfrm>
            <a:off x="933061" y="6148226"/>
            <a:ext cx="7315200" cy="461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PT Sans" pitchFamily="34" charset="-122"/>
                <a:cs typeface="Times New Roman" panose="02020603050405020304" pitchFamily="18" charset="0"/>
              </a:rPr>
              <a:t>Tools: Browser/VS code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468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FA38B1-C490-45A6-3324-AECAB8E15A57}"/>
              </a:ext>
            </a:extLst>
          </p:cNvPr>
          <p:cNvSpPr txBox="1"/>
          <p:nvPr/>
        </p:nvSpPr>
        <p:spPr>
          <a:xfrm>
            <a:off x="997527" y="1287960"/>
            <a:ext cx="1143197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depend on staff for basic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communication leads to delays and repeated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platform for answering common queries.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is scattered across websites, notice boards, and departments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5861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FF1641-5235-048F-CCE6-BBC14A25F042}"/>
              </a:ext>
            </a:extLst>
          </p:cNvPr>
          <p:cNvSpPr txBox="1"/>
          <p:nvPr/>
        </p:nvSpPr>
        <p:spPr>
          <a:xfrm>
            <a:off x="666750" y="1280181"/>
            <a:ext cx="882015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chatbot system designed to answer student queries 24/7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text-based interface that allows students to chat easily.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Responds instantly using the predefined Q&amp;A database stored in the backend</a:t>
            </a:r>
            <a:r>
              <a:rPr lang="en-IN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consistent and accurate information every time</a:t>
            </a:r>
            <a:r>
              <a:rPr lang="en-IN" sz="2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E7F95A-FA98-F027-2418-125BBFA74B05}"/>
              </a:ext>
            </a:extLst>
          </p:cNvPr>
          <p:cNvSpPr txBox="1"/>
          <p:nvPr/>
        </p:nvSpPr>
        <p:spPr>
          <a:xfrm>
            <a:off x="9827779" y="3198250"/>
            <a:ext cx="507437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queries chatbot</a:t>
            </a:r>
          </a:p>
          <a:p>
            <a:endParaRPr lang="en-IN" sz="2400" dirty="0"/>
          </a:p>
          <a:p>
            <a:r>
              <a:rPr lang="en-IN" sz="2400" dirty="0"/>
              <a:t>    </a:t>
            </a:r>
          </a:p>
          <a:p>
            <a:r>
              <a:rPr lang="en-IN" sz="2400" dirty="0"/>
              <a:t>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responds instantly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Admin logs in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updates Q&amp;A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2" name="Picture 2" descr="Transparent Left Arrow Png - Long Arrow Icon Png , Free Transparent ...">
            <a:extLst>
              <a:ext uri="{FF2B5EF4-FFF2-40B4-BE49-F238E27FC236}">
                <a16:creationId xmlns:a16="http://schemas.microsoft.com/office/drawing/2014/main" id="{DD8D08A5-0EE8-D55B-2864-587267A7F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297538" y="3841182"/>
            <a:ext cx="447674" cy="17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Transparent Left Arrow Png - Long Arrow Icon Png , Free Transparent ...">
            <a:extLst>
              <a:ext uri="{FF2B5EF4-FFF2-40B4-BE49-F238E27FC236}">
                <a16:creationId xmlns:a16="http://schemas.microsoft.com/office/drawing/2014/main" id="{FC96C5A0-67D5-D26C-5C21-EC0CFC9B0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297539" y="5009173"/>
            <a:ext cx="447674" cy="17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Transparent Left Arrow Png - Long Arrow Icon Png , Free Transparent ...">
            <a:extLst>
              <a:ext uri="{FF2B5EF4-FFF2-40B4-BE49-F238E27FC236}">
                <a16:creationId xmlns:a16="http://schemas.microsoft.com/office/drawing/2014/main" id="{4FBCEC3B-89DF-DD88-FA1D-789CB73DC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1297538" y="6158113"/>
            <a:ext cx="447674" cy="175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2FD618F-A09B-62BD-82AE-2A896B8F8AAD}"/>
              </a:ext>
            </a:extLst>
          </p:cNvPr>
          <p:cNvSpPr txBox="1"/>
          <p:nvPr/>
        </p:nvSpPr>
        <p:spPr>
          <a:xfrm>
            <a:off x="9675019" y="1289706"/>
            <a:ext cx="74437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Demo</a:t>
            </a:r>
          </a:p>
        </p:txBody>
      </p:sp>
    </p:spTree>
    <p:extLst>
      <p:ext uri="{BB962C8B-B14F-4D97-AF65-F5344CB8AC3E}">
        <p14:creationId xmlns:p14="http://schemas.microsoft.com/office/powerpoint/2010/main" val="3874463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AEA470-37CB-0498-1980-DA4B24C6969D}"/>
              </a:ext>
            </a:extLst>
          </p:cNvPr>
          <p:cNvSpPr txBox="1"/>
          <p:nvPr/>
        </p:nvSpPr>
        <p:spPr>
          <a:xfrm>
            <a:off x="718456" y="1175658"/>
            <a:ext cx="1184054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Admin Login ensures only authorized staff can modify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Add, Edit, or Delete Q&amp;A pairs as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information is reflected immediately in the chatbot responses.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9879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A562C0-4F18-5FA3-24A8-4D01425A29FD}"/>
              </a:ext>
            </a:extLst>
          </p:cNvPr>
          <p:cNvSpPr txBox="1"/>
          <p:nvPr/>
        </p:nvSpPr>
        <p:spPr>
          <a:xfrm>
            <a:off x="821094" y="923731"/>
            <a:ext cx="1282026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clean Ul for both students and admin, ensuring smooth usage.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instant and accurate responses, improving communication.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 database is fully customizable, allowing colleges to update information anytime.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as a reliable always available digital assistant for students.</a:t>
            </a:r>
          </a:p>
        </p:txBody>
      </p:sp>
    </p:spTree>
    <p:extLst>
      <p:ext uri="{BB962C8B-B14F-4D97-AF65-F5344CB8AC3E}">
        <p14:creationId xmlns:p14="http://schemas.microsoft.com/office/powerpoint/2010/main" val="1909358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3A1425-58C1-8F21-709E-6E0496588DDD}"/>
              </a:ext>
            </a:extLst>
          </p:cNvPr>
          <p:cNvSpPr txBox="1"/>
          <p:nvPr/>
        </p:nvSpPr>
        <p:spPr>
          <a:xfrm>
            <a:off x="1025237" y="1160145"/>
            <a:ext cx="1154309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 interface allows students to type queries easily.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conversation flow with sample dialogue such 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User: hello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Chatbot: hi, how can I help you?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layout makes the chat experience simple and engaging</a:t>
            </a:r>
          </a:p>
        </p:txBody>
      </p:sp>
    </p:spTree>
    <p:extLst>
      <p:ext uri="{BB962C8B-B14F-4D97-AF65-F5344CB8AC3E}">
        <p14:creationId xmlns:p14="http://schemas.microsoft.com/office/powerpoint/2010/main" val="1055261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E0DE0F-BE93-4BA9-F932-C1215772BB12}"/>
              </a:ext>
            </a:extLst>
          </p:cNvPr>
          <p:cNvSpPr txBox="1"/>
          <p:nvPr/>
        </p:nvSpPr>
        <p:spPr>
          <a:xfrm>
            <a:off x="1208314" y="1015576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Nunito Semi Bold" pitchFamily="34" charset="-122"/>
                <a:cs typeface="Times New Roman" panose="02020603050405020304" pitchFamily="18" charset="0"/>
              </a:rPr>
              <a:t>Snapshots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8700EF-EAED-9196-DB72-49BDD213C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13" y="2781886"/>
            <a:ext cx="4487158" cy="4531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B8221F-9564-41E9-FEC7-D2EBC12D9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914" y="2781886"/>
            <a:ext cx="4571999" cy="4531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6ECAE3-A8CE-89D2-BEF2-995D6F020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6513" y="2781886"/>
            <a:ext cx="4746398" cy="453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89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08F5EC-D897-D139-111B-4B56E41D35DA}"/>
              </a:ext>
            </a:extLst>
          </p:cNvPr>
          <p:cNvSpPr txBox="1"/>
          <p:nvPr/>
        </p:nvSpPr>
        <p:spPr>
          <a:xfrm>
            <a:off x="727789" y="1073020"/>
            <a:ext cx="11504644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 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Login Page</a:t>
            </a:r>
          </a:p>
          <a:p>
            <a:endParaRPr lang="en-IN" sz="3600" dirty="0"/>
          </a:p>
          <a:p>
            <a:endParaRPr lang="en-IN" sz="36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secure password-based login for admin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only authorized personnel can manage the Q&amp;A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is minimal and user-friendly for quick login.</a:t>
            </a:r>
          </a:p>
        </p:txBody>
      </p:sp>
    </p:spTree>
    <p:extLst>
      <p:ext uri="{BB962C8B-B14F-4D97-AF65-F5344CB8AC3E}">
        <p14:creationId xmlns:p14="http://schemas.microsoft.com/office/powerpoint/2010/main" val="1889740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A9C64E-40C1-B304-F43D-FCBB9740D21D}"/>
              </a:ext>
            </a:extLst>
          </p:cNvPr>
          <p:cNvSpPr txBox="1"/>
          <p:nvPr/>
        </p:nvSpPr>
        <p:spPr>
          <a:xfrm>
            <a:off x="1045029" y="1428957"/>
            <a:ext cx="73152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  <a:p>
            <a:endParaRPr lang="en-IN" sz="3600" b="1" dirty="0"/>
          </a:p>
          <a:p>
            <a:endParaRPr lang="en-IN" sz="3600" dirty="0"/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add, edit, and delete Q&amp;A.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data reflects instantly in chatbot.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interface for easy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9419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90C347-09F6-2F6D-6DFE-7864FBCA8FF1}"/>
              </a:ext>
            </a:extLst>
          </p:cNvPr>
          <p:cNvSpPr txBox="1"/>
          <p:nvPr/>
        </p:nvSpPr>
        <p:spPr>
          <a:xfrm>
            <a:off x="755780" y="960664"/>
            <a:ext cx="1021702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support for college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Admission help desk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Hostel &amp; fee-related FAQ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inquiry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General FAQ automation</a:t>
            </a:r>
          </a:p>
        </p:txBody>
      </p:sp>
    </p:spTree>
    <p:extLst>
      <p:ext uri="{BB962C8B-B14F-4D97-AF65-F5344CB8AC3E}">
        <p14:creationId xmlns:p14="http://schemas.microsoft.com/office/powerpoint/2010/main" val="2372351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1C2739-FCEB-9F25-9345-DF5C3E6E6A6A}"/>
              </a:ext>
            </a:extLst>
          </p:cNvPr>
          <p:cNvSpPr txBox="1"/>
          <p:nvPr/>
        </p:nvSpPr>
        <p:spPr>
          <a:xfrm>
            <a:off x="1023823" y="1271792"/>
            <a:ext cx="1100079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reduces manual effort and improves communication.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Easy-to-use admin module makes updating information simple.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fast, reliable, and 24/7 support for students.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scalable project that can grow with future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159568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DF481D-F1E3-DBFC-A619-223A19748DD4}"/>
              </a:ext>
            </a:extLst>
          </p:cNvPr>
          <p:cNvSpPr txBox="1"/>
          <p:nvPr/>
        </p:nvSpPr>
        <p:spPr>
          <a:xfrm>
            <a:off x="1127874" y="1219484"/>
            <a:ext cx="995576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Al/NLP for smarter responses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voice-based chatbot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to college ERP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multi-language support</a:t>
            </a:r>
          </a:p>
        </p:txBody>
      </p:sp>
    </p:spTree>
    <p:extLst>
      <p:ext uri="{BB962C8B-B14F-4D97-AF65-F5344CB8AC3E}">
        <p14:creationId xmlns:p14="http://schemas.microsoft.com/office/powerpoint/2010/main" val="3584633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213E98-7C30-FA21-F968-96E45A7F3EF4}"/>
              </a:ext>
            </a:extLst>
          </p:cNvPr>
          <p:cNvSpPr txBox="1"/>
          <p:nvPr/>
        </p:nvSpPr>
        <p:spPr>
          <a:xfrm>
            <a:off x="653143" y="727788"/>
            <a:ext cx="10319657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Kumar, S., &amp; Sharma, R. (2022). Artificial Intelligence in Education: Applications and Future Trends. Springer Publications.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Chopra, A. (2021). Natural Language Processing with Python. O'Reilly Media.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Jain, M., &amp; Verma, P. (2020). "Chatbot Architecture and Design for Educational Institutions." International Journal of Computer Science and Engineering, 8(4), 112-119.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Google Cloud. (2023).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Dialogflow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Documentation. Retrieved from Google Developers.</a:t>
            </a:r>
          </a:p>
        </p:txBody>
      </p:sp>
    </p:spTree>
    <p:extLst>
      <p:ext uri="{BB962C8B-B14F-4D97-AF65-F5344CB8AC3E}">
        <p14:creationId xmlns:p14="http://schemas.microsoft.com/office/powerpoint/2010/main" val="16823427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2ED697-33FF-58ED-47A2-2CEA2FB56CDF}"/>
              </a:ext>
            </a:extLst>
          </p:cNvPr>
          <p:cNvSpPr txBox="1"/>
          <p:nvPr/>
        </p:nvSpPr>
        <p:spPr>
          <a:xfrm>
            <a:off x="3722914" y="3391525"/>
            <a:ext cx="73152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b="1" dirty="0">
                <a:effectLst/>
              </a:rPr>
              <a:t>Thank you</a:t>
            </a:r>
            <a:endParaRPr lang="en-IN" sz="8800" b="1" dirty="0"/>
          </a:p>
        </p:txBody>
      </p:sp>
    </p:spTree>
    <p:extLst>
      <p:ext uri="{BB962C8B-B14F-4D97-AF65-F5344CB8AC3E}">
        <p14:creationId xmlns:p14="http://schemas.microsoft.com/office/powerpoint/2010/main" val="36122460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2939</TotalTime>
  <Words>886</Words>
  <Application>Microsoft Office PowerPoint</Application>
  <PresentationFormat>Custom</PresentationFormat>
  <Paragraphs>207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PT Sans</vt:lpstr>
      <vt:lpstr>Century Gothic</vt:lpstr>
      <vt:lpstr>Wingdings 3</vt:lpstr>
      <vt:lpstr>Times New Roman</vt:lpstr>
      <vt:lpstr>Calibri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chitti17</dc:creator>
  <cp:lastModifiedBy>Kanchana S A</cp:lastModifiedBy>
  <cp:revision>9</cp:revision>
  <dcterms:created xsi:type="dcterms:W3CDTF">2025-11-18T10:12:59Z</dcterms:created>
  <dcterms:modified xsi:type="dcterms:W3CDTF">2026-01-14T09:22:49Z</dcterms:modified>
</cp:coreProperties>
</file>